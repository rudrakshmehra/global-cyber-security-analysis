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6" r:id="rId3"/>
    <p:sldId id="257" r:id="rId4"/>
    <p:sldId id="258" r:id="rId5"/>
    <p:sldId id="259" r:id="rId6"/>
    <p:sldId id="260" r:id="rId7"/>
    <p:sldId id="261" r:id="rId8"/>
    <p:sldId id="262" r:id="rId9"/>
    <p:sldId id="263" r:id="rId10"/>
    <p:sldId id="264" r:id="rId11"/>
    <p:sldId id="265"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09" autoAdjust="0"/>
    <p:restoredTop sz="94660"/>
  </p:normalViewPr>
  <p:slideViewPr>
    <p:cSldViewPr>
      <p:cViewPr varScale="1">
        <p:scale>
          <a:sx n="69" d="100"/>
          <a:sy n="69" d="100"/>
        </p:scale>
        <p:origin x="-140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E33E9C83-DF1D-48A9-9029-963869E8CF8A}" type="datetimeFigureOut">
              <a:rPr lang="en-IN" smtClean="0"/>
              <a:t>26-09-2024</a:t>
            </a:fld>
            <a:endParaRPr lang="en-IN"/>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IN"/>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C58E24C-7458-4CC5-96E1-7811F082F16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33E9C83-DF1D-48A9-9029-963869E8CF8A}" type="datetimeFigureOut">
              <a:rPr lang="en-IN" smtClean="0"/>
              <a:t>26-09-2024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C58E24C-7458-4CC5-96E1-7811F082F166}" type="slidenum">
              <a:rPr lang="en-IN" smtClean="0"/>
              <a:t>‹#›</a:t>
            </a:fld>
            <a:endParaRPr lang="en-IN"/>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E33E9C83-DF1D-48A9-9029-963869E8CF8A}" type="datetimeFigureOut">
              <a:rPr lang="en-IN" smtClean="0"/>
              <a:t>26-09-2024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C58E24C-7458-4CC5-96E1-7811F082F166}" type="slidenum">
              <a:rPr lang="en-IN" smtClean="0"/>
              <a:t>‹#›</a:t>
            </a:fld>
            <a:endParaRPr lang="en-IN"/>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E33E9C83-DF1D-48A9-9029-963869E8CF8A}" type="datetimeFigureOut">
              <a:rPr lang="en-IN" smtClean="0"/>
              <a:t>26-09-2024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FC58E24C-7458-4CC5-96E1-7811F082F166}" type="slidenum">
              <a:rPr lang="en-IN" smtClean="0"/>
              <a:t>‹#›</a:t>
            </a:fld>
            <a:endParaRPr lang="en-IN"/>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E33E9C83-DF1D-48A9-9029-963869E8CF8A}" type="datetimeFigureOut">
              <a:rPr lang="en-IN" smtClean="0"/>
              <a:t>26-09-2024</a:t>
            </a:fld>
            <a:endParaRPr lang="en-IN"/>
          </a:p>
        </p:txBody>
      </p:sp>
      <p:sp>
        <p:nvSpPr>
          <p:cNvPr id="8" name="Footer Placeholder 7"/>
          <p:cNvSpPr>
            <a:spLocks noGrp="1"/>
          </p:cNvSpPr>
          <p:nvPr>
            <p:ph type="ftr" sz="quarter" idx="11"/>
          </p:nvPr>
        </p:nvSpPr>
        <p:spPr/>
        <p:txBody>
          <a:bodyPr/>
          <a:lstStyle>
            <a:extLst/>
          </a:lstStyle>
          <a:p>
            <a:endParaRPr lang="en-IN"/>
          </a:p>
        </p:txBody>
      </p:sp>
      <p:sp>
        <p:nvSpPr>
          <p:cNvPr id="9" name="Slide Number Placeholder 8"/>
          <p:cNvSpPr>
            <a:spLocks noGrp="1"/>
          </p:cNvSpPr>
          <p:nvPr>
            <p:ph type="sldNum" sz="quarter" idx="12"/>
          </p:nvPr>
        </p:nvSpPr>
        <p:spPr/>
        <p:txBody>
          <a:bodyPr/>
          <a:lstStyle>
            <a:extLst/>
          </a:lstStyle>
          <a:p>
            <a:fld id="{FC58E24C-7458-4CC5-96E1-7811F082F166}"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E33E9C83-DF1D-48A9-9029-963869E8CF8A}" type="datetimeFigureOut">
              <a:rPr lang="en-IN" smtClean="0"/>
              <a:t>26-09-2024</a:t>
            </a:fld>
            <a:endParaRPr lang="en-IN"/>
          </a:p>
        </p:txBody>
      </p:sp>
      <p:sp>
        <p:nvSpPr>
          <p:cNvPr id="4" name="Footer Placeholder 3"/>
          <p:cNvSpPr>
            <a:spLocks noGrp="1"/>
          </p:cNvSpPr>
          <p:nvPr>
            <p:ph type="ftr" sz="quarter" idx="11"/>
          </p:nvPr>
        </p:nvSpPr>
        <p:spPr/>
        <p:txBody>
          <a:bodyPr/>
          <a:lstStyle>
            <a:extLst/>
          </a:lstStyle>
          <a:p>
            <a:endParaRPr lang="en-IN"/>
          </a:p>
        </p:txBody>
      </p:sp>
      <p:sp>
        <p:nvSpPr>
          <p:cNvPr id="5" name="Slide Number Placeholder 4"/>
          <p:cNvSpPr>
            <a:spLocks noGrp="1"/>
          </p:cNvSpPr>
          <p:nvPr>
            <p:ph type="sldNum" sz="quarter" idx="12"/>
          </p:nvPr>
        </p:nvSpPr>
        <p:spPr/>
        <p:txBody>
          <a:bodyPr/>
          <a:lstStyle>
            <a:extLst/>
          </a:lstStyle>
          <a:p>
            <a:fld id="{FC58E24C-7458-4CC5-96E1-7811F082F166}" type="slidenum">
              <a:rPr lang="en-IN" smtClean="0"/>
              <a:t>‹#›</a:t>
            </a:fld>
            <a:endParaRPr lang="en-IN"/>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E33E9C83-DF1D-48A9-9029-963869E8CF8A}" type="datetimeFigureOut">
              <a:rPr lang="en-IN" smtClean="0"/>
              <a:t>26-09-2024</a:t>
            </a:fld>
            <a:endParaRPr lang="en-IN"/>
          </a:p>
        </p:txBody>
      </p:sp>
      <p:sp>
        <p:nvSpPr>
          <p:cNvPr id="3" name="Footer Placeholder 2"/>
          <p:cNvSpPr>
            <a:spLocks noGrp="1"/>
          </p:cNvSpPr>
          <p:nvPr>
            <p:ph type="ftr" sz="quarter" idx="11"/>
          </p:nvPr>
        </p:nvSpPr>
        <p:spPr/>
        <p:txBody>
          <a:bodyPr/>
          <a:lstStyle>
            <a:extLst/>
          </a:lstStyle>
          <a:p>
            <a:endParaRPr lang="en-IN"/>
          </a:p>
        </p:txBody>
      </p:sp>
      <p:sp>
        <p:nvSpPr>
          <p:cNvPr id="4" name="Slide Number Placeholder 3"/>
          <p:cNvSpPr>
            <a:spLocks noGrp="1"/>
          </p:cNvSpPr>
          <p:nvPr>
            <p:ph type="sldNum" sz="quarter" idx="12"/>
          </p:nvPr>
        </p:nvSpPr>
        <p:spPr/>
        <p:txBody>
          <a:bodyPr/>
          <a:lstStyle>
            <a:extLst/>
          </a:lstStyle>
          <a:p>
            <a:fld id="{FC58E24C-7458-4CC5-96E1-7811F082F16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E33E9C83-DF1D-48A9-9029-963869E8CF8A}" type="datetimeFigureOut">
              <a:rPr lang="en-IN" smtClean="0"/>
              <a:t>26-09-2024</a:t>
            </a:fld>
            <a:endParaRPr lang="en-IN"/>
          </a:p>
        </p:txBody>
      </p:sp>
      <p:sp>
        <p:nvSpPr>
          <p:cNvPr id="6" name="Footer Placeholder 5"/>
          <p:cNvSpPr>
            <a:spLocks noGrp="1"/>
          </p:cNvSpPr>
          <p:nvPr>
            <p:ph type="ftr" sz="quarter" idx="11"/>
          </p:nvPr>
        </p:nvSpPr>
        <p:spPr/>
        <p:txBody>
          <a:bodyPr/>
          <a:lstStyle>
            <a:extLst/>
          </a:lstStyle>
          <a:p>
            <a:endParaRPr lang="en-IN"/>
          </a:p>
        </p:txBody>
      </p:sp>
      <p:sp>
        <p:nvSpPr>
          <p:cNvPr id="7" name="Slide Number Placeholder 6"/>
          <p:cNvSpPr>
            <a:spLocks noGrp="1"/>
          </p:cNvSpPr>
          <p:nvPr>
            <p:ph type="sldNum" sz="quarter" idx="12"/>
          </p:nvPr>
        </p:nvSpPr>
        <p:spPr/>
        <p:txBody>
          <a:bodyPr/>
          <a:lstStyle>
            <a:extLst/>
          </a:lstStyle>
          <a:p>
            <a:fld id="{FC58E24C-7458-4CC5-96E1-7811F082F166}"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E33E9C83-DF1D-48A9-9029-963869E8CF8A}" type="datetimeFigureOut">
              <a:rPr lang="en-IN" smtClean="0"/>
              <a:t>26-09-2024</a:t>
            </a:fld>
            <a:endParaRPr lang="en-IN"/>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IN"/>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FC58E24C-7458-4CC5-96E1-7811F082F166}" type="slidenum">
              <a:rPr lang="en-IN" smtClean="0"/>
              <a:t>‹#›</a:t>
            </a:fld>
            <a:endParaRPr lang="en-IN"/>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33E9C83-DF1D-48A9-9029-963869E8CF8A}" type="datetimeFigureOut">
              <a:rPr lang="en-IN" smtClean="0"/>
              <a:t>26-09-2024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C58E24C-7458-4CC5-96E1-7811F082F16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33E9C83-DF1D-48A9-9029-963869E8CF8A}" type="datetimeFigureOut">
              <a:rPr lang="en-IN" smtClean="0"/>
              <a:t>26-09-2024</a:t>
            </a:fld>
            <a:endParaRPr lang="en-IN"/>
          </a:p>
        </p:txBody>
      </p:sp>
      <p:sp>
        <p:nvSpPr>
          <p:cNvPr id="5" name="Footer Placeholder 4"/>
          <p:cNvSpPr>
            <a:spLocks noGrp="1"/>
          </p:cNvSpPr>
          <p:nvPr>
            <p:ph type="ftr" sz="quarter" idx="11"/>
          </p:nvPr>
        </p:nvSpPr>
        <p:spPr/>
        <p:txBody>
          <a:bodyPr/>
          <a:lstStyle>
            <a:extLst/>
          </a:lstStyle>
          <a:p>
            <a:endParaRPr lang="en-IN"/>
          </a:p>
        </p:txBody>
      </p:sp>
      <p:sp>
        <p:nvSpPr>
          <p:cNvPr id="6" name="Slide Number Placeholder 5"/>
          <p:cNvSpPr>
            <a:spLocks noGrp="1"/>
          </p:cNvSpPr>
          <p:nvPr>
            <p:ph type="sldNum" sz="quarter" idx="12"/>
          </p:nvPr>
        </p:nvSpPr>
        <p:spPr/>
        <p:txBody>
          <a:bodyPr/>
          <a:lstStyle>
            <a:extLst/>
          </a:lstStyle>
          <a:p>
            <a:fld id="{FC58E24C-7458-4CC5-96E1-7811F082F16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E33E9C83-DF1D-48A9-9029-963869E8CF8A}" type="datetimeFigureOut">
              <a:rPr lang="en-IN" smtClean="0"/>
              <a:t>26-09-2024</a:t>
            </a:fld>
            <a:endParaRPr lang="en-IN"/>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IN"/>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FC58E24C-7458-4CC5-96E1-7811F082F16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9512" y="332656"/>
            <a:ext cx="8712968" cy="1829761"/>
          </a:xfrm>
        </p:spPr>
        <p:txBody>
          <a:bodyPr>
            <a:normAutofit/>
          </a:bodyPr>
          <a:lstStyle/>
          <a:p>
            <a:pPr algn="ctr"/>
            <a:r>
              <a:rPr lang="en-US" dirty="0">
                <a:solidFill>
                  <a:schemeClr val="tx1"/>
                </a:solidFill>
                <a:latin typeface="Calibri" panose="020F0502020204030204" pitchFamily="34" charset="0"/>
                <a:cs typeface="Calibri" panose="020F0502020204030204" pitchFamily="34" charset="0"/>
              </a:rPr>
              <a:t> Major Global Digital Policy Frameworks in Cybersecurity</a:t>
            </a:r>
            <a:endParaRPr lang="en-IN" dirty="0">
              <a:solidFill>
                <a:schemeClr val="tx1"/>
              </a:solidFill>
              <a:latin typeface="Calibri" panose="020F0502020204030204" pitchFamily="34" charset="0"/>
              <a:cs typeface="Calibri" panose="020F0502020204030204" pitchFamily="34" charset="0"/>
            </a:endParaRPr>
          </a:p>
        </p:txBody>
      </p:sp>
      <p:sp>
        <p:nvSpPr>
          <p:cNvPr id="3" name="Subtitle 2"/>
          <p:cNvSpPr>
            <a:spLocks noGrp="1"/>
          </p:cNvSpPr>
          <p:nvPr>
            <p:ph type="subTitle" idx="1"/>
          </p:nvPr>
        </p:nvSpPr>
        <p:spPr>
          <a:xfrm>
            <a:off x="179512" y="3429000"/>
            <a:ext cx="3670176" cy="1728192"/>
          </a:xfrm>
        </p:spPr>
        <p:txBody>
          <a:bodyPr>
            <a:normAutofit/>
          </a:bodyPr>
          <a:lstStyle/>
          <a:p>
            <a:pPr algn="l"/>
            <a:r>
              <a:rPr lang="en-IN" sz="2000" b="1" dirty="0" smtClean="0">
                <a:solidFill>
                  <a:schemeClr val="tx1"/>
                </a:solidFill>
                <a:latin typeface="Calibri" panose="020F0502020204030204" pitchFamily="34" charset="0"/>
                <a:cs typeface="Calibri" panose="020F0502020204030204" pitchFamily="34" charset="0"/>
              </a:rPr>
              <a:t>Name</a:t>
            </a:r>
            <a:r>
              <a:rPr lang="en-IN" sz="2000" dirty="0" smtClean="0">
                <a:solidFill>
                  <a:schemeClr val="tx1"/>
                </a:solidFill>
                <a:latin typeface="Calibri" panose="020F0502020204030204" pitchFamily="34" charset="0"/>
                <a:cs typeface="Calibri" panose="020F0502020204030204" pitchFamily="34" charset="0"/>
              </a:rPr>
              <a:t> </a:t>
            </a:r>
            <a:r>
              <a:rPr lang="en-IN" sz="2000" b="1" dirty="0" smtClean="0">
                <a:solidFill>
                  <a:schemeClr val="tx1"/>
                </a:solidFill>
                <a:latin typeface="Calibri" panose="020F0502020204030204" pitchFamily="34" charset="0"/>
                <a:cs typeface="Calibri" panose="020F0502020204030204" pitchFamily="34" charset="0"/>
              </a:rPr>
              <a:t>– </a:t>
            </a:r>
            <a:r>
              <a:rPr lang="en-IN" sz="2000" dirty="0" smtClean="0">
                <a:solidFill>
                  <a:schemeClr val="tx1"/>
                </a:solidFill>
                <a:latin typeface="Calibri" panose="020F0502020204030204" pitchFamily="34" charset="0"/>
                <a:cs typeface="Calibri" panose="020F0502020204030204" pitchFamily="34" charset="0"/>
              </a:rPr>
              <a:t>Rudraksh Mehra</a:t>
            </a:r>
            <a:endParaRPr lang="en-IN" sz="2000" dirty="0">
              <a:solidFill>
                <a:schemeClr val="tx1"/>
              </a:solidFill>
              <a:latin typeface="Calibri" panose="020F0502020204030204" pitchFamily="34" charset="0"/>
              <a:cs typeface="Calibri" panose="020F0502020204030204" pitchFamily="34" charset="0"/>
            </a:endParaRPr>
          </a:p>
          <a:p>
            <a:pPr algn="l"/>
            <a:r>
              <a:rPr lang="en-IN" sz="2000" b="1" dirty="0" smtClean="0">
                <a:solidFill>
                  <a:schemeClr val="tx1"/>
                </a:solidFill>
                <a:latin typeface="Calibri" panose="020F0502020204030204" pitchFamily="34" charset="0"/>
                <a:cs typeface="Calibri" panose="020F0502020204030204" pitchFamily="34" charset="0"/>
              </a:rPr>
              <a:t>Roll </a:t>
            </a:r>
            <a:r>
              <a:rPr lang="en-IN" sz="2000" b="1" dirty="0">
                <a:solidFill>
                  <a:schemeClr val="tx1"/>
                </a:solidFill>
                <a:latin typeface="Calibri" panose="020F0502020204030204" pitchFamily="34" charset="0"/>
                <a:cs typeface="Calibri" panose="020F0502020204030204" pitchFamily="34" charset="0"/>
              </a:rPr>
              <a:t>no </a:t>
            </a:r>
            <a:r>
              <a:rPr lang="en-IN" sz="2000" b="1" dirty="0" smtClean="0">
                <a:solidFill>
                  <a:schemeClr val="tx1"/>
                </a:solidFill>
                <a:latin typeface="Calibri" panose="020F0502020204030204" pitchFamily="34" charset="0"/>
                <a:cs typeface="Calibri" panose="020F0502020204030204" pitchFamily="34" charset="0"/>
              </a:rPr>
              <a:t>-</a:t>
            </a:r>
            <a:r>
              <a:rPr lang="en-IN" sz="2000" dirty="0" smtClean="0">
                <a:solidFill>
                  <a:schemeClr val="tx1"/>
                </a:solidFill>
                <a:latin typeface="Calibri" panose="020F0502020204030204" pitchFamily="34" charset="0"/>
                <a:cs typeface="Calibri" panose="020F0502020204030204" pitchFamily="34" charset="0"/>
              </a:rPr>
              <a:t> CS-2341243</a:t>
            </a:r>
            <a:endParaRPr lang="en-IN" sz="2000" dirty="0">
              <a:solidFill>
                <a:schemeClr val="tx1"/>
              </a:solidFill>
              <a:latin typeface="Calibri" panose="020F0502020204030204" pitchFamily="34" charset="0"/>
              <a:cs typeface="Calibri" panose="020F0502020204030204" pitchFamily="34" charset="0"/>
            </a:endParaRPr>
          </a:p>
          <a:p>
            <a:pPr algn="l"/>
            <a:r>
              <a:rPr lang="en-IN" sz="2000" b="1" dirty="0" smtClean="0">
                <a:solidFill>
                  <a:schemeClr val="tx1"/>
                </a:solidFill>
                <a:latin typeface="Calibri" panose="020F0502020204030204" pitchFamily="34" charset="0"/>
                <a:cs typeface="Calibri" panose="020F0502020204030204" pitchFamily="34" charset="0"/>
              </a:rPr>
              <a:t>Class -</a:t>
            </a:r>
            <a:r>
              <a:rPr lang="en-IN" sz="2000" dirty="0" smtClean="0">
                <a:solidFill>
                  <a:schemeClr val="tx1"/>
                </a:solidFill>
                <a:latin typeface="Calibri" panose="020F0502020204030204" pitchFamily="34" charset="0"/>
                <a:cs typeface="Calibri" panose="020F0502020204030204" pitchFamily="34" charset="0"/>
              </a:rPr>
              <a:t> 2CSE5</a:t>
            </a:r>
            <a:endParaRPr lang="en-IN" sz="2000" dirty="0">
              <a:solidFill>
                <a:schemeClr val="tx1"/>
              </a:solidFill>
              <a:latin typeface="Calibri" panose="020F0502020204030204" pitchFamily="34" charset="0"/>
              <a:cs typeface="Calibri" panose="020F0502020204030204" pitchFamily="34" charset="0"/>
            </a:endParaRPr>
          </a:p>
          <a:p>
            <a:pPr algn="l"/>
            <a:r>
              <a:rPr lang="en-IN" sz="2000" b="1" dirty="0">
                <a:solidFill>
                  <a:schemeClr val="tx1"/>
                </a:solidFill>
                <a:latin typeface="Calibri" panose="020F0502020204030204" pitchFamily="34" charset="0"/>
                <a:cs typeface="Calibri" panose="020F0502020204030204" pitchFamily="34" charset="0"/>
              </a:rPr>
              <a:t>Dept</a:t>
            </a:r>
            <a:r>
              <a:rPr lang="en-IN" sz="2000" b="1" dirty="0" smtClean="0">
                <a:solidFill>
                  <a:schemeClr val="tx1"/>
                </a:solidFill>
                <a:latin typeface="Calibri" panose="020F0502020204030204" pitchFamily="34" charset="0"/>
                <a:cs typeface="Calibri" panose="020F0502020204030204" pitchFamily="34" charset="0"/>
              </a:rPr>
              <a:t>. -</a:t>
            </a:r>
            <a:r>
              <a:rPr lang="en-IN" sz="2000" dirty="0" smtClean="0">
                <a:solidFill>
                  <a:schemeClr val="tx1"/>
                </a:solidFill>
                <a:latin typeface="Calibri" panose="020F0502020204030204" pitchFamily="34" charset="0"/>
                <a:cs typeface="Calibri" panose="020F0502020204030204" pitchFamily="34" charset="0"/>
              </a:rPr>
              <a:t>  Btech- CSE</a:t>
            </a:r>
            <a:endParaRPr lang="en-IN" sz="20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49316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b="1" dirty="0">
                <a:latin typeface="Calibri" panose="020F0502020204030204" pitchFamily="34" charset="0"/>
                <a:cs typeface="Calibri" panose="020F0502020204030204" pitchFamily="34" charset="0"/>
              </a:rPr>
              <a:t>Purpose of the </a:t>
            </a:r>
            <a:r>
              <a:rPr lang="en-US" sz="2800" b="1" dirty="0" smtClean="0">
                <a:latin typeface="Calibri" panose="020F0502020204030204" pitchFamily="34" charset="0"/>
                <a:cs typeface="Calibri" panose="020F0502020204030204" pitchFamily="34" charset="0"/>
              </a:rPr>
              <a:t>Study :</a:t>
            </a:r>
            <a:r>
              <a:rPr lang="en-US" sz="2800" dirty="0" smtClean="0">
                <a:latin typeface="Calibri" panose="020F0502020204030204" pitchFamily="34" charset="0"/>
                <a:cs typeface="Calibri" panose="020F0502020204030204" pitchFamily="34" charset="0"/>
              </a:rPr>
              <a:t> To </a:t>
            </a:r>
            <a:r>
              <a:rPr lang="en-US" sz="2800" dirty="0">
                <a:latin typeface="Calibri" panose="020F0502020204030204" pitchFamily="34" charset="0"/>
                <a:cs typeface="Calibri" panose="020F0502020204030204" pitchFamily="34" charset="0"/>
              </a:rPr>
              <a:t>analyze cybersecurity effectiveness across countries using various indices (GCI, CEI, NSCI).</a:t>
            </a:r>
          </a:p>
          <a:p>
            <a:r>
              <a:rPr lang="en-US" sz="2800" dirty="0">
                <a:latin typeface="Calibri" panose="020F0502020204030204" pitchFamily="34" charset="0"/>
                <a:cs typeface="Calibri" panose="020F0502020204030204" pitchFamily="34" charset="0"/>
              </a:rPr>
              <a:t>To explore the relationship between digital development and cybersecurity readiness.</a:t>
            </a:r>
          </a:p>
          <a:p>
            <a:endParaRPr lang="en-IN" sz="2800" dirty="0">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p:txBody>
          <a:bodyPr/>
          <a:lstStyle/>
          <a:p>
            <a:r>
              <a:rPr lang="en-IN" dirty="0">
                <a:solidFill>
                  <a:schemeClr val="tx1"/>
                </a:solidFill>
                <a:latin typeface="Calibri" panose="020F0502020204030204" pitchFamily="34" charset="0"/>
                <a:cs typeface="Calibri" panose="020F0502020204030204" pitchFamily="34" charset="0"/>
              </a:rPr>
              <a:t>Introduction</a:t>
            </a:r>
          </a:p>
        </p:txBody>
      </p:sp>
    </p:spTree>
    <p:extLst>
      <p:ext uri="{BB962C8B-B14F-4D97-AF65-F5344CB8AC3E}">
        <p14:creationId xmlns:p14="http://schemas.microsoft.com/office/powerpoint/2010/main" val="1946677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6" y="1268760"/>
            <a:ext cx="8229600" cy="4827992"/>
          </a:xfrm>
        </p:spPr>
        <p:txBody>
          <a:bodyPr>
            <a:normAutofit fontScale="85000" lnSpcReduction="20000"/>
          </a:bodyPr>
          <a:lstStyle/>
          <a:p>
            <a:r>
              <a:rPr lang="en-US" b="1" dirty="0">
                <a:latin typeface="Calibri" panose="020F0502020204030204" pitchFamily="34" charset="0"/>
                <a:cs typeface="Calibri" panose="020F0502020204030204" pitchFamily="34" charset="0"/>
              </a:rPr>
              <a:t>Dataset Description:</a:t>
            </a:r>
            <a:endParaRPr lang="en-US" dirty="0">
              <a:latin typeface="Calibri" panose="020F0502020204030204" pitchFamily="34" charset="0"/>
              <a:cs typeface="Calibri" panose="020F0502020204030204" pitchFamily="34" charset="0"/>
            </a:endParaRPr>
          </a:p>
          <a:p>
            <a:pPr marL="624078" indent="-514350">
              <a:buFont typeface="+mj-lt"/>
              <a:buAutoNum type="arabicPeriod"/>
            </a:pPr>
            <a:r>
              <a:rPr lang="en-US" b="1" dirty="0">
                <a:latin typeface="Calibri" panose="020F0502020204030204" pitchFamily="34" charset="0"/>
                <a:cs typeface="Calibri" panose="020F0502020204030204" pitchFamily="34" charset="0"/>
              </a:rPr>
              <a:t>Country:</a:t>
            </a:r>
            <a:r>
              <a:rPr lang="en-US" dirty="0">
                <a:latin typeface="Calibri" panose="020F0502020204030204" pitchFamily="34" charset="0"/>
                <a:cs typeface="Calibri" panose="020F0502020204030204" pitchFamily="34" charset="0"/>
              </a:rPr>
              <a:t> The name of the country being analyzed.</a:t>
            </a:r>
          </a:p>
          <a:p>
            <a:pPr marL="624078" indent="-514350">
              <a:buFont typeface="+mj-lt"/>
              <a:buAutoNum type="arabicPeriod"/>
            </a:pPr>
            <a:r>
              <a:rPr lang="en-US" b="1" dirty="0">
                <a:latin typeface="Calibri" panose="020F0502020204030204" pitchFamily="34" charset="0"/>
                <a:cs typeface="Calibri" panose="020F0502020204030204" pitchFamily="34" charset="0"/>
              </a:rPr>
              <a:t>Region:</a:t>
            </a:r>
            <a:r>
              <a:rPr lang="en-US" dirty="0">
                <a:latin typeface="Calibri" panose="020F0502020204030204" pitchFamily="34" charset="0"/>
                <a:cs typeface="Calibri" panose="020F0502020204030204" pitchFamily="34" charset="0"/>
              </a:rPr>
              <a:t> The geographical region (e.g., North America, Europe).</a:t>
            </a:r>
          </a:p>
          <a:p>
            <a:pPr marL="624078" indent="-514350">
              <a:buFont typeface="+mj-lt"/>
              <a:buAutoNum type="arabicPeriod"/>
            </a:pPr>
            <a:r>
              <a:rPr lang="en-US" b="1" dirty="0">
                <a:latin typeface="Calibri" panose="020F0502020204030204" pitchFamily="34" charset="0"/>
                <a:cs typeface="Calibri" panose="020F0502020204030204" pitchFamily="34" charset="0"/>
              </a:rPr>
              <a:t>CEI (Cybersecurity Effectiveness Index):</a:t>
            </a:r>
            <a:r>
              <a:rPr lang="en-US" dirty="0">
                <a:latin typeface="Calibri" panose="020F0502020204030204" pitchFamily="34" charset="0"/>
                <a:cs typeface="Calibri" panose="020F0502020204030204" pitchFamily="34" charset="0"/>
              </a:rPr>
              <a:t> A score indicating the effectiveness of a country's cybersecurity policies.</a:t>
            </a:r>
          </a:p>
          <a:p>
            <a:pPr marL="624078" indent="-514350">
              <a:buFont typeface="+mj-lt"/>
              <a:buAutoNum type="arabicPeriod"/>
            </a:pPr>
            <a:r>
              <a:rPr lang="en-US" b="1" dirty="0">
                <a:latin typeface="Calibri" panose="020F0502020204030204" pitchFamily="34" charset="0"/>
                <a:cs typeface="Calibri" panose="020F0502020204030204" pitchFamily="34" charset="0"/>
              </a:rPr>
              <a:t>GCI (Global Cybersecurity Index):</a:t>
            </a:r>
            <a:r>
              <a:rPr lang="en-US" dirty="0">
                <a:latin typeface="Calibri" panose="020F0502020204030204" pitchFamily="34" charset="0"/>
                <a:cs typeface="Calibri" panose="020F0502020204030204" pitchFamily="34" charset="0"/>
              </a:rPr>
              <a:t> An index ranking countries based on their cybersecurity measures across various dimensions.</a:t>
            </a:r>
          </a:p>
          <a:p>
            <a:pPr marL="624078" indent="-514350">
              <a:buFont typeface="+mj-lt"/>
              <a:buAutoNum type="arabicPeriod"/>
            </a:pPr>
            <a:r>
              <a:rPr lang="en-US" b="1" dirty="0">
                <a:latin typeface="Calibri" panose="020F0502020204030204" pitchFamily="34" charset="0"/>
                <a:cs typeface="Calibri" panose="020F0502020204030204" pitchFamily="34" charset="0"/>
              </a:rPr>
              <a:t>NSCI (National Cybersecurity Index):</a:t>
            </a:r>
            <a:r>
              <a:rPr lang="en-US" dirty="0">
                <a:latin typeface="Calibri" panose="020F0502020204030204" pitchFamily="34" charset="0"/>
                <a:cs typeface="Calibri" panose="020F0502020204030204" pitchFamily="34" charset="0"/>
              </a:rPr>
              <a:t> Measures a country's preparedness to protect its digital infrastructure.</a:t>
            </a:r>
          </a:p>
          <a:p>
            <a:pPr marL="624078" indent="-514350">
              <a:buFont typeface="+mj-lt"/>
              <a:buAutoNum type="arabicPeriod"/>
            </a:pPr>
            <a:r>
              <a:rPr lang="en-US" b="1" dirty="0">
                <a:latin typeface="Calibri" panose="020F0502020204030204" pitchFamily="34" charset="0"/>
                <a:cs typeface="Calibri" panose="020F0502020204030204" pitchFamily="34" charset="0"/>
              </a:rPr>
              <a:t>DDL (Digital Development Level):</a:t>
            </a:r>
            <a:r>
              <a:rPr lang="en-US" dirty="0">
                <a:latin typeface="Calibri" panose="020F0502020204030204" pitchFamily="34" charset="0"/>
                <a:cs typeface="Calibri" panose="020F0502020204030204" pitchFamily="34" charset="0"/>
              </a:rPr>
              <a:t> Represents the overall digital maturity and technological adoption of a country</a:t>
            </a:r>
            <a:r>
              <a:rPr lang="en-US" dirty="0" smtClean="0">
                <a:latin typeface="Calibri" panose="020F0502020204030204" pitchFamily="34" charset="0"/>
                <a:cs typeface="Calibri" panose="020F0502020204030204" pitchFamily="34" charset="0"/>
              </a:rPr>
              <a:t>.</a:t>
            </a:r>
          </a:p>
          <a:p>
            <a:pPr marL="624078" indent="-514350">
              <a:buFont typeface="+mj-lt"/>
              <a:buAutoNum type="arabicPeriod"/>
            </a:pPr>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Source:</a:t>
            </a:r>
            <a:r>
              <a:rPr lang="en-US" dirty="0">
                <a:latin typeface="Calibri" panose="020F0502020204030204" pitchFamily="34" charset="0"/>
                <a:cs typeface="Calibri" panose="020F0502020204030204" pitchFamily="34" charset="0"/>
              </a:rPr>
              <a:t> This dataset is sourced from </a:t>
            </a:r>
            <a:r>
              <a:rPr lang="en-US" dirty="0" err="1">
                <a:latin typeface="Calibri" panose="020F0502020204030204" pitchFamily="34" charset="0"/>
                <a:cs typeface="Calibri" panose="020F0502020204030204" pitchFamily="34" charset="0"/>
              </a:rPr>
              <a:t>Kaggle</a:t>
            </a:r>
            <a:endParaRPr lang="en-US" dirty="0">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395536" y="116632"/>
            <a:ext cx="8229600" cy="1143000"/>
          </a:xfrm>
        </p:spPr>
        <p:txBody>
          <a:bodyPr/>
          <a:lstStyle/>
          <a:p>
            <a:r>
              <a:rPr lang="en-IN" dirty="0">
                <a:solidFill>
                  <a:schemeClr val="tx1"/>
                </a:solidFill>
                <a:latin typeface="Calibri" panose="020F0502020204030204" pitchFamily="34" charset="0"/>
                <a:cs typeface="Calibri" panose="020F0502020204030204" pitchFamily="34" charset="0"/>
              </a:rPr>
              <a:t>Dataset Overview</a:t>
            </a:r>
          </a:p>
        </p:txBody>
      </p:sp>
    </p:spTree>
    <p:extLst>
      <p:ext uri="{BB962C8B-B14F-4D97-AF65-F5344CB8AC3E}">
        <p14:creationId xmlns:p14="http://schemas.microsoft.com/office/powerpoint/2010/main" val="1594868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23528" y="1556792"/>
            <a:ext cx="8229600" cy="4683976"/>
          </a:xfrm>
        </p:spPr>
        <p:txBody>
          <a:bodyPr>
            <a:normAutofit fontScale="92500"/>
          </a:bodyPr>
          <a:lstStyle/>
          <a:p>
            <a:r>
              <a:rPr lang="en-US" b="1" dirty="0" smtClean="0">
                <a:latin typeface="Calibri" panose="020F0502020204030204" pitchFamily="34" charset="0"/>
                <a:cs typeface="Calibri" panose="020F0502020204030204" pitchFamily="34" charset="0"/>
              </a:rPr>
              <a:t>Description:</a:t>
            </a:r>
            <a:r>
              <a:rPr lang="en-US" dirty="0" smtClean="0">
                <a:latin typeface="Calibri" panose="020F0502020204030204" pitchFamily="34" charset="0"/>
                <a:cs typeface="Calibri" panose="020F0502020204030204" pitchFamily="34" charset="0"/>
              </a:rPr>
              <a:t> A filled map visualization that displays the Cybersecurity Effectiveness Index (CEI) for each country.</a:t>
            </a:r>
          </a:p>
          <a:p>
            <a:endParaRPr lang="en-US" dirty="0" smtClean="0">
              <a:latin typeface="Calibri" panose="020F0502020204030204" pitchFamily="34" charset="0"/>
              <a:cs typeface="Calibri" panose="020F0502020204030204" pitchFamily="34" charset="0"/>
            </a:endParaRPr>
          </a:p>
          <a:p>
            <a:r>
              <a:rPr lang="en-US" b="1" dirty="0" smtClean="0">
                <a:latin typeface="Calibri" panose="020F0502020204030204" pitchFamily="34" charset="0"/>
                <a:cs typeface="Calibri" panose="020F0502020204030204" pitchFamily="34" charset="0"/>
              </a:rPr>
              <a:t>Insights:</a:t>
            </a:r>
            <a:endParaRPr lang="en-US" dirty="0" smtClean="0">
              <a:latin typeface="Calibri" panose="020F0502020204030204" pitchFamily="34" charset="0"/>
              <a:cs typeface="Calibri" panose="020F0502020204030204" pitchFamily="34" charset="0"/>
            </a:endParaRPr>
          </a:p>
          <a:p>
            <a:pPr marL="624078" indent="-514350">
              <a:buFont typeface="+mj-lt"/>
              <a:buAutoNum type="arabicPeriod"/>
            </a:pPr>
            <a:r>
              <a:rPr lang="en-US" dirty="0">
                <a:latin typeface="Calibri" panose="020F0502020204030204" pitchFamily="34" charset="0"/>
                <a:cs typeface="Calibri" panose="020F0502020204030204" pitchFamily="34" charset="0"/>
              </a:rPr>
              <a:t>C</a:t>
            </a:r>
            <a:r>
              <a:rPr lang="en-US" dirty="0" smtClean="0">
                <a:latin typeface="Calibri" panose="020F0502020204030204" pitchFamily="34" charset="0"/>
                <a:cs typeface="Calibri" panose="020F0502020204030204" pitchFamily="34" charset="0"/>
              </a:rPr>
              <a:t>ountries like Afghanistan , Myanmar have  the highest scores, indicating strong cybersecurity policies and infrastructure.</a:t>
            </a:r>
          </a:p>
          <a:p>
            <a:pPr marL="624078" indent="-514350">
              <a:buFont typeface="+mj-lt"/>
              <a:buAutoNum type="arabicPeriod"/>
            </a:pPr>
            <a:r>
              <a:rPr lang="en-US" dirty="0" smtClean="0">
                <a:latin typeface="Calibri" panose="020F0502020204030204" pitchFamily="34" charset="0"/>
                <a:cs typeface="Calibri" panose="020F0502020204030204" pitchFamily="34" charset="0"/>
              </a:rPr>
              <a:t>Countries like India, Singapore need improvement in their cybersecurity measures.</a:t>
            </a:r>
          </a:p>
          <a:p>
            <a:pPr marL="624078" indent="-514350">
              <a:buFont typeface="+mj-lt"/>
              <a:buAutoNum type="arabicPeriod"/>
            </a:pPr>
            <a:r>
              <a:rPr lang="en-US" dirty="0">
                <a:latin typeface="Calibri" panose="020F0502020204030204" pitchFamily="34" charset="0"/>
                <a:cs typeface="Calibri" panose="020F0502020204030204" pitchFamily="34" charset="0"/>
              </a:rPr>
              <a:t>Countries like </a:t>
            </a:r>
            <a:r>
              <a:rPr lang="en-US" dirty="0" smtClean="0">
                <a:latin typeface="Calibri" panose="020F0502020204030204" pitchFamily="34" charset="0"/>
                <a:cs typeface="Calibri" panose="020F0502020204030204" pitchFamily="34" charset="0"/>
              </a:rPr>
              <a:t>Australia , Canada are lagging in cybersecurity readiness.</a:t>
            </a:r>
          </a:p>
          <a:p>
            <a:endParaRPr lang="en-IN" dirty="0">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395536" y="116632"/>
            <a:ext cx="8229600" cy="1143000"/>
          </a:xfrm>
        </p:spPr>
        <p:txBody>
          <a:bodyPr>
            <a:normAutofit fontScale="90000"/>
          </a:bodyPr>
          <a:lstStyle/>
          <a:p>
            <a:r>
              <a:rPr lang="en-IN" dirty="0">
                <a:solidFill>
                  <a:schemeClr val="tx1"/>
                </a:solidFill>
                <a:latin typeface="Calibri" panose="020F0502020204030204" pitchFamily="34" charset="0"/>
                <a:cs typeface="Calibri" panose="020F0502020204030204" pitchFamily="34" charset="0"/>
              </a:rPr>
              <a:t>Cybersecurity Readiness Across Countries</a:t>
            </a:r>
          </a:p>
        </p:txBody>
      </p:sp>
    </p:spTree>
    <p:extLst>
      <p:ext uri="{BB962C8B-B14F-4D97-AF65-F5344CB8AC3E}">
        <p14:creationId xmlns:p14="http://schemas.microsoft.com/office/powerpoint/2010/main" val="3666146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Cyber Security  Imapct\New folder\Heatmap.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548680"/>
            <a:ext cx="8545513" cy="5328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677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328"/>
            <a:ext cx="8229600" cy="4900000"/>
          </a:xfrm>
        </p:spPr>
        <p:txBody>
          <a:bodyPr>
            <a:normAutofit fontScale="70000" lnSpcReduction="20000"/>
          </a:bodyPr>
          <a:lstStyle/>
          <a:p>
            <a:r>
              <a:rPr lang="en-US" b="1" dirty="0">
                <a:latin typeface="Calibri" panose="020F0502020204030204" pitchFamily="34" charset="0"/>
                <a:cs typeface="Calibri" panose="020F0502020204030204" pitchFamily="34" charset="0"/>
              </a:rPr>
              <a:t>Description:</a:t>
            </a:r>
            <a:r>
              <a:rPr lang="en-US" dirty="0">
                <a:latin typeface="Calibri" panose="020F0502020204030204" pitchFamily="34" charset="0"/>
                <a:cs typeface="Calibri" panose="020F0502020204030204" pitchFamily="34" charset="0"/>
              </a:rPr>
              <a:t> A bar chart that compares the three key cybersecurity indices—GCI, CEI, and NSCI—for selected countries</a:t>
            </a:r>
            <a:r>
              <a:rPr lang="en-US" dirty="0" smtClean="0">
                <a:latin typeface="Calibri" panose="020F0502020204030204" pitchFamily="34" charset="0"/>
                <a:cs typeface="Calibri" panose="020F0502020204030204" pitchFamily="34" charset="0"/>
              </a:rPr>
              <a:t>.</a:t>
            </a:r>
          </a:p>
          <a:p>
            <a:endParaRPr lang="en-US" dirty="0">
              <a:latin typeface="Calibri" panose="020F0502020204030204" pitchFamily="34" charset="0"/>
              <a:cs typeface="Calibri" panose="020F0502020204030204" pitchFamily="34" charset="0"/>
            </a:endParaRPr>
          </a:p>
          <a:p>
            <a:r>
              <a:rPr lang="en-US" b="1" dirty="0">
                <a:latin typeface="Calibri" panose="020F0502020204030204" pitchFamily="34" charset="0"/>
                <a:cs typeface="Calibri" panose="020F0502020204030204" pitchFamily="34" charset="0"/>
              </a:rPr>
              <a:t>Insights:</a:t>
            </a:r>
            <a:endParaRPr lang="en-US" dirty="0">
              <a:latin typeface="Calibri" panose="020F0502020204030204" pitchFamily="34" charset="0"/>
              <a:cs typeface="Calibri" panose="020F0502020204030204" pitchFamily="34" charset="0"/>
            </a:endParaRPr>
          </a:p>
          <a:p>
            <a:pPr marL="624078" indent="-514350">
              <a:buFont typeface="+mj-lt"/>
              <a:buAutoNum type="arabicPeriod"/>
            </a:pPr>
            <a:r>
              <a:rPr lang="en-US" b="1" dirty="0">
                <a:latin typeface="Calibri" panose="020F0502020204030204" pitchFamily="34" charset="0"/>
                <a:cs typeface="Calibri" panose="020F0502020204030204" pitchFamily="34" charset="0"/>
              </a:rPr>
              <a:t>Comparative Rankings:</a:t>
            </a:r>
            <a:r>
              <a:rPr lang="en-US" dirty="0">
                <a:latin typeface="Calibri" panose="020F0502020204030204" pitchFamily="34" charset="0"/>
                <a:cs typeface="Calibri" panose="020F0502020204030204" pitchFamily="34" charset="0"/>
              </a:rPr>
              <a:t> The bar chart reveals that countries like Afghanistan, Myanmar, and Ethiopia have high </a:t>
            </a:r>
            <a:r>
              <a:rPr lang="en-US" dirty="0" smtClean="0">
                <a:latin typeface="Calibri" panose="020F0502020204030204" pitchFamily="34" charset="0"/>
                <a:cs typeface="Calibri" panose="020F0502020204030204" pitchFamily="34" charset="0"/>
              </a:rPr>
              <a:t>CEI </a:t>
            </a:r>
            <a:r>
              <a:rPr lang="en-US" dirty="0">
                <a:latin typeface="Calibri" panose="020F0502020204030204" pitchFamily="34" charset="0"/>
                <a:cs typeface="Calibri" panose="020F0502020204030204" pitchFamily="34" charset="0"/>
              </a:rPr>
              <a:t>scores, indicating effective policies despite broader challenges</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p>
            <a:pPr marL="624078" indent="-514350">
              <a:buFont typeface="+mj-lt"/>
              <a:buAutoNum type="arabicPeriod"/>
            </a:pPr>
            <a:r>
              <a:rPr lang="en-US" b="1" dirty="0">
                <a:latin typeface="Calibri" panose="020F0502020204030204" pitchFamily="34" charset="0"/>
                <a:cs typeface="Calibri" panose="020F0502020204030204" pitchFamily="34" charset="0"/>
              </a:rPr>
              <a:t>Discrepancies:</a:t>
            </a:r>
            <a:r>
              <a:rPr lang="en-US" dirty="0">
                <a:latin typeface="Calibri" panose="020F0502020204030204" pitchFamily="34" charset="0"/>
                <a:cs typeface="Calibri" panose="020F0502020204030204" pitchFamily="34" charset="0"/>
              </a:rPr>
              <a:t> In contrast, nations with </a:t>
            </a:r>
            <a:r>
              <a:rPr lang="en-US" dirty="0" smtClean="0">
                <a:latin typeface="Calibri" panose="020F0502020204030204" pitchFamily="34" charset="0"/>
                <a:cs typeface="Calibri" panose="020F0502020204030204" pitchFamily="34" charset="0"/>
              </a:rPr>
              <a:t>GCI </a:t>
            </a:r>
            <a:r>
              <a:rPr lang="en-US" dirty="0">
                <a:latin typeface="Calibri" panose="020F0502020204030204" pitchFamily="34" charset="0"/>
                <a:cs typeface="Calibri" panose="020F0502020204030204" pitchFamily="34" charset="0"/>
              </a:rPr>
              <a:t>scores, such as the US, UK, and Saudi Arabia, showcase strong legal and technical frameworks but may not reflect operational effectiveness as seen in CEI</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p>
            <a:pPr marL="624078" indent="-514350">
              <a:buFont typeface="+mj-lt"/>
              <a:buAutoNum type="arabicPeriod"/>
            </a:pPr>
            <a:r>
              <a:rPr lang="en-US" b="1" dirty="0">
                <a:latin typeface="Calibri" panose="020F0502020204030204" pitchFamily="34" charset="0"/>
                <a:cs typeface="Calibri" panose="020F0502020204030204" pitchFamily="34" charset="0"/>
              </a:rPr>
              <a:t>Top Performers:</a:t>
            </a:r>
            <a:r>
              <a:rPr lang="en-US" dirty="0">
                <a:latin typeface="Calibri" panose="020F0502020204030204" pitchFamily="34" charset="0"/>
                <a:cs typeface="Calibri" panose="020F0502020204030204" pitchFamily="34" charset="0"/>
              </a:rPr>
              <a:t> Countries with high </a:t>
            </a:r>
            <a:r>
              <a:rPr lang="en-US" dirty="0" smtClean="0">
                <a:latin typeface="Calibri" panose="020F0502020204030204" pitchFamily="34" charset="0"/>
                <a:cs typeface="Calibri" panose="020F0502020204030204" pitchFamily="34" charset="0"/>
              </a:rPr>
              <a:t>NSCI </a:t>
            </a:r>
            <a:r>
              <a:rPr lang="en-US" dirty="0">
                <a:latin typeface="Calibri" panose="020F0502020204030204" pitchFamily="34" charset="0"/>
                <a:cs typeface="Calibri" panose="020F0502020204030204" pitchFamily="34" charset="0"/>
              </a:rPr>
              <a:t>scores include Greece, Belgium, and Lithuania, highlighting their preparedness and resilience in protecting digital infrastructure</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p>
            <a:pPr marL="624078" indent="-514350">
              <a:buFont typeface="+mj-lt"/>
              <a:buAutoNum type="arabicPeriod"/>
            </a:pPr>
            <a:r>
              <a:rPr lang="en-US" b="1" dirty="0">
                <a:latin typeface="Calibri" panose="020F0502020204030204" pitchFamily="34" charset="0"/>
                <a:cs typeface="Calibri" panose="020F0502020204030204" pitchFamily="34" charset="0"/>
              </a:rPr>
              <a:t>Implications:</a:t>
            </a:r>
            <a:r>
              <a:rPr lang="en-US" dirty="0">
                <a:latin typeface="Calibri" panose="020F0502020204030204" pitchFamily="34" charset="0"/>
                <a:cs typeface="Calibri" panose="020F0502020204030204" pitchFamily="34" charset="0"/>
              </a:rPr>
              <a:t> These disparities suggest that effective cybersecurity is multifaceted, and investments in policy, technology, and operational capacity must align to enhance overall cybersecurity effectiveness globally.</a:t>
            </a:r>
          </a:p>
        </p:txBody>
      </p:sp>
      <p:sp>
        <p:nvSpPr>
          <p:cNvPr id="3" name="Title 2"/>
          <p:cNvSpPr>
            <a:spLocks noGrp="1"/>
          </p:cNvSpPr>
          <p:nvPr>
            <p:ph type="title"/>
          </p:nvPr>
        </p:nvSpPr>
        <p:spPr/>
        <p:txBody>
          <a:bodyPr>
            <a:normAutofit/>
          </a:bodyPr>
          <a:lstStyle/>
          <a:p>
            <a:r>
              <a:rPr lang="en-IN" dirty="0">
                <a:solidFill>
                  <a:schemeClr val="tx1"/>
                </a:solidFill>
                <a:latin typeface="Calibri" panose="020F0502020204030204" pitchFamily="34" charset="0"/>
                <a:cs typeface="Calibri" panose="020F0502020204030204" pitchFamily="34" charset="0"/>
              </a:rPr>
              <a:t>Comparison of Cybersecurity Indices</a:t>
            </a:r>
          </a:p>
        </p:txBody>
      </p:sp>
    </p:spTree>
    <p:extLst>
      <p:ext uri="{BB962C8B-B14F-4D97-AF65-F5344CB8AC3E}">
        <p14:creationId xmlns:p14="http://schemas.microsoft.com/office/powerpoint/2010/main" val="19466775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F:\Cyber Security  Imapct\New folder\CEI comparis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548680"/>
            <a:ext cx="5330949" cy="271157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F:\Cyber Security  Imapct\New folder\GCI compariso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7" y="3598556"/>
            <a:ext cx="5308532" cy="263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677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F:\Cyber Security  Imapct\New folder\NSCI comparis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548680"/>
            <a:ext cx="7344816" cy="5472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677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6" y="1484784"/>
            <a:ext cx="8229600" cy="4968552"/>
          </a:xfrm>
        </p:spPr>
        <p:txBody>
          <a:bodyPr>
            <a:noAutofit/>
          </a:bodyPr>
          <a:lstStyle/>
          <a:p>
            <a:r>
              <a:rPr lang="en-US" sz="1750" b="1" dirty="0">
                <a:latin typeface="Calibri" panose="020F0502020204030204" pitchFamily="34" charset="0"/>
                <a:cs typeface="Calibri" panose="020F0502020204030204" pitchFamily="34" charset="0"/>
              </a:rPr>
              <a:t>Description:</a:t>
            </a:r>
            <a:r>
              <a:rPr lang="en-US" sz="1750" dirty="0">
                <a:latin typeface="Calibri" panose="020F0502020204030204" pitchFamily="34" charset="0"/>
                <a:cs typeface="Calibri" panose="020F0502020204030204" pitchFamily="34" charset="0"/>
              </a:rPr>
              <a:t> A scatter plot displaying the relationship between the Cybersecurity Effectiveness Index (CEI) and the Digital Development Level (DDL) for each country</a:t>
            </a:r>
            <a:r>
              <a:rPr lang="en-US" sz="1750" dirty="0" smtClean="0">
                <a:latin typeface="Calibri" panose="020F0502020204030204" pitchFamily="34" charset="0"/>
                <a:cs typeface="Calibri" panose="020F0502020204030204" pitchFamily="34" charset="0"/>
              </a:rPr>
              <a:t>.</a:t>
            </a:r>
            <a:endParaRPr lang="en-US" sz="1750" dirty="0">
              <a:latin typeface="Calibri" panose="020F0502020204030204" pitchFamily="34" charset="0"/>
              <a:cs typeface="Calibri" panose="020F0502020204030204" pitchFamily="34" charset="0"/>
            </a:endParaRPr>
          </a:p>
          <a:p>
            <a:r>
              <a:rPr lang="en-US" sz="1750" b="1" dirty="0">
                <a:latin typeface="Calibri" panose="020F0502020204030204" pitchFamily="34" charset="0"/>
                <a:cs typeface="Calibri" panose="020F0502020204030204" pitchFamily="34" charset="0"/>
              </a:rPr>
              <a:t>Insights</a:t>
            </a:r>
            <a:r>
              <a:rPr lang="en-US" sz="1750" b="1" dirty="0" smtClean="0">
                <a:latin typeface="Calibri" panose="020F0502020204030204" pitchFamily="34" charset="0"/>
                <a:cs typeface="Calibri" panose="020F0502020204030204" pitchFamily="34" charset="0"/>
              </a:rPr>
              <a:t>:</a:t>
            </a:r>
            <a:endParaRPr lang="en-US" sz="1750" dirty="0">
              <a:latin typeface="Calibri" panose="020F0502020204030204" pitchFamily="34" charset="0"/>
              <a:cs typeface="Calibri" panose="020F0502020204030204" pitchFamily="34" charset="0"/>
            </a:endParaRPr>
          </a:p>
          <a:p>
            <a:pPr marL="624078" indent="-514350">
              <a:buFont typeface="+mj-lt"/>
              <a:buAutoNum type="arabicPeriod"/>
            </a:pPr>
            <a:r>
              <a:rPr lang="en-US" sz="1750" b="1" dirty="0">
                <a:latin typeface="Calibri" panose="020F0502020204030204" pitchFamily="34" charset="0"/>
                <a:cs typeface="Calibri" panose="020F0502020204030204" pitchFamily="34" charset="0"/>
              </a:rPr>
              <a:t>Relationship Exploration:</a:t>
            </a:r>
            <a:r>
              <a:rPr lang="en-US" sz="1750" dirty="0">
                <a:latin typeface="Calibri" panose="020F0502020204030204" pitchFamily="34" charset="0"/>
                <a:cs typeface="Calibri" panose="020F0502020204030204" pitchFamily="34" charset="0"/>
              </a:rPr>
              <a:t> The scatter plot illustrates a general trend where countries with higher </a:t>
            </a:r>
            <a:r>
              <a:rPr lang="en-US" sz="1750" dirty="0" smtClean="0">
                <a:latin typeface="Calibri" panose="020F0502020204030204" pitchFamily="34" charset="0"/>
                <a:cs typeface="Calibri" panose="020F0502020204030204" pitchFamily="34" charset="0"/>
              </a:rPr>
              <a:t>DDL </a:t>
            </a:r>
            <a:r>
              <a:rPr lang="en-US" sz="1750" dirty="0">
                <a:latin typeface="Calibri" panose="020F0502020204030204" pitchFamily="34" charset="0"/>
                <a:cs typeface="Calibri" panose="020F0502020204030204" pitchFamily="34" charset="0"/>
              </a:rPr>
              <a:t>tend to have more effective cybersecurity measures (CEI</a:t>
            </a:r>
            <a:r>
              <a:rPr lang="en-US" sz="1750" dirty="0" smtClean="0">
                <a:latin typeface="Calibri" panose="020F0502020204030204" pitchFamily="34" charset="0"/>
                <a:cs typeface="Calibri" panose="020F0502020204030204" pitchFamily="34" charset="0"/>
              </a:rPr>
              <a:t>).</a:t>
            </a:r>
            <a:endParaRPr lang="en-US" sz="1750" dirty="0">
              <a:latin typeface="Calibri" panose="020F0502020204030204" pitchFamily="34" charset="0"/>
              <a:cs typeface="Calibri" panose="020F0502020204030204" pitchFamily="34" charset="0"/>
            </a:endParaRPr>
          </a:p>
          <a:p>
            <a:pPr marL="624078" indent="-514350">
              <a:buFont typeface="+mj-lt"/>
              <a:buAutoNum type="arabicPeriod"/>
            </a:pPr>
            <a:r>
              <a:rPr lang="en-US" sz="1750" b="1" dirty="0">
                <a:latin typeface="Calibri" panose="020F0502020204030204" pitchFamily="34" charset="0"/>
                <a:cs typeface="Calibri" panose="020F0502020204030204" pitchFamily="34" charset="0"/>
              </a:rPr>
              <a:t>Outlier Identification:</a:t>
            </a:r>
            <a:r>
              <a:rPr lang="en-US" sz="1750" dirty="0">
                <a:latin typeface="Calibri" panose="020F0502020204030204" pitchFamily="34" charset="0"/>
                <a:cs typeface="Calibri" panose="020F0502020204030204" pitchFamily="34" charset="0"/>
              </a:rPr>
              <a:t> Notable outliers include Mauritius, Belgium, and Denmark, which exhibit low CEI scores despite high DDL. This discrepancy suggests that high digital maturity does not always equate to effective cybersecurity practices, prompting further investigation into the factors at play</a:t>
            </a:r>
            <a:r>
              <a:rPr lang="en-US" sz="1750" dirty="0" smtClean="0">
                <a:latin typeface="Calibri" panose="020F0502020204030204" pitchFamily="34" charset="0"/>
                <a:cs typeface="Calibri" panose="020F0502020204030204" pitchFamily="34" charset="0"/>
              </a:rPr>
              <a:t>.</a:t>
            </a:r>
            <a:endParaRPr lang="en-US" sz="1750" dirty="0">
              <a:latin typeface="Calibri" panose="020F0502020204030204" pitchFamily="34" charset="0"/>
              <a:cs typeface="Calibri" panose="020F0502020204030204" pitchFamily="34" charset="0"/>
            </a:endParaRPr>
          </a:p>
          <a:p>
            <a:pPr marL="624078" indent="-514350">
              <a:buFont typeface="+mj-lt"/>
              <a:buAutoNum type="arabicPeriod"/>
            </a:pPr>
            <a:r>
              <a:rPr lang="en-US" sz="1750" b="1" dirty="0">
                <a:latin typeface="Calibri" panose="020F0502020204030204" pitchFamily="34" charset="0"/>
                <a:cs typeface="Calibri" panose="020F0502020204030204" pitchFamily="34" charset="0"/>
              </a:rPr>
              <a:t>Policy Implications:</a:t>
            </a:r>
            <a:r>
              <a:rPr lang="en-US" sz="1750" dirty="0">
                <a:latin typeface="Calibri" panose="020F0502020204030204" pitchFamily="34" charset="0"/>
                <a:cs typeface="Calibri" panose="020F0502020204030204" pitchFamily="34" charset="0"/>
              </a:rPr>
              <a:t> </a:t>
            </a:r>
            <a:r>
              <a:rPr lang="en-US" sz="1750" dirty="0" smtClean="0">
                <a:latin typeface="Calibri" panose="020F0502020204030204" pitchFamily="34" charset="0"/>
                <a:cs typeface="Calibri" panose="020F0502020204030204" pitchFamily="34" charset="0"/>
              </a:rPr>
              <a:t>Countries </a:t>
            </a:r>
            <a:r>
              <a:rPr lang="en-US" sz="1750" dirty="0">
                <a:latin typeface="Calibri" panose="020F0502020204030204" pitchFamily="34" charset="0"/>
                <a:cs typeface="Calibri" panose="020F0502020204030204" pitchFamily="34" charset="0"/>
              </a:rPr>
              <a:t>with high DDL should focus on strengthening their cybersecurity measures to ensure </a:t>
            </a:r>
            <a:r>
              <a:rPr lang="en-US" sz="1750" dirty="0" smtClean="0">
                <a:latin typeface="Calibri" panose="020F0502020204030204" pitchFamily="34" charset="0"/>
                <a:cs typeface="Calibri" panose="020F0502020204030204" pitchFamily="34" charset="0"/>
              </a:rPr>
              <a:t>that their </a:t>
            </a:r>
            <a:r>
              <a:rPr lang="en-US" sz="1750" dirty="0">
                <a:latin typeface="Calibri" panose="020F0502020204030204" pitchFamily="34" charset="0"/>
                <a:cs typeface="Calibri" panose="020F0502020204030204" pitchFamily="34" charset="0"/>
              </a:rPr>
              <a:t>technological advancements are secure</a:t>
            </a:r>
            <a:r>
              <a:rPr lang="en-US" sz="1750" dirty="0" smtClean="0">
                <a:latin typeface="Calibri" panose="020F0502020204030204" pitchFamily="34" charset="0"/>
                <a:cs typeface="Calibri" panose="020F0502020204030204" pitchFamily="34" charset="0"/>
              </a:rPr>
              <a:t>.</a:t>
            </a:r>
            <a:endParaRPr lang="en-US" sz="1750" dirty="0">
              <a:latin typeface="Calibri" panose="020F0502020204030204" pitchFamily="34" charset="0"/>
              <a:cs typeface="Calibri" panose="020F0502020204030204" pitchFamily="34" charset="0"/>
            </a:endParaRPr>
          </a:p>
          <a:p>
            <a:pPr marL="624078" indent="-514350">
              <a:buFont typeface="+mj-lt"/>
              <a:buAutoNum type="arabicPeriod"/>
            </a:pPr>
            <a:r>
              <a:rPr lang="en-US" sz="1750" b="1" dirty="0">
                <a:latin typeface="Calibri" panose="020F0502020204030204" pitchFamily="34" charset="0"/>
                <a:cs typeface="Calibri" panose="020F0502020204030204" pitchFamily="34" charset="0"/>
              </a:rPr>
              <a:t>Strategic Focus:</a:t>
            </a:r>
            <a:r>
              <a:rPr lang="en-US" sz="1750" dirty="0">
                <a:latin typeface="Calibri" panose="020F0502020204030204" pitchFamily="34" charset="0"/>
                <a:cs typeface="Calibri" panose="020F0502020204030204" pitchFamily="34" charset="0"/>
              </a:rPr>
              <a:t> Encourage policymakers to recognize the importance of aligning digital development with robust cybersecurity strategies, emphasizing that technological advancement must be accompanied by effective security policies and practices.</a:t>
            </a:r>
          </a:p>
          <a:p>
            <a:pPr marL="624078" indent="-514350">
              <a:buFont typeface="+mj-lt"/>
              <a:buAutoNum type="arabicPeriod"/>
            </a:pPr>
            <a:endParaRPr lang="en-IN" sz="1750" dirty="0">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a:xfrm>
            <a:off x="395536" y="188640"/>
            <a:ext cx="8229600" cy="1143000"/>
          </a:xfrm>
        </p:spPr>
        <p:txBody>
          <a:bodyPr>
            <a:normAutofit fontScale="90000"/>
          </a:bodyPr>
          <a:lstStyle/>
          <a:p>
            <a:r>
              <a:rPr lang="en-US" dirty="0">
                <a:solidFill>
                  <a:schemeClr val="tx1"/>
                </a:solidFill>
                <a:latin typeface="Calibri" panose="020F0502020204030204" pitchFamily="34" charset="0"/>
                <a:cs typeface="Calibri" panose="020F0502020204030204" pitchFamily="34" charset="0"/>
              </a:rPr>
              <a:t>Cybersecurity Effectiveness vs. Digital Development</a:t>
            </a:r>
            <a:endParaRPr lang="en-IN"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46677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F:\Cyber Security  Imapct\New folder\Scatterplo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638" y="919163"/>
            <a:ext cx="8593137" cy="5019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677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000" b="1" dirty="0">
                <a:latin typeface="Calibri" panose="020F0502020204030204" pitchFamily="34" charset="0"/>
                <a:cs typeface="Calibri" panose="020F0502020204030204" pitchFamily="34" charset="0"/>
              </a:rPr>
              <a:t>Table:</a:t>
            </a:r>
            <a:r>
              <a:rPr lang="en-US" sz="2000" dirty="0">
                <a:latin typeface="Calibri" panose="020F0502020204030204" pitchFamily="34" charset="0"/>
                <a:cs typeface="Calibri" panose="020F0502020204030204" pitchFamily="34" charset="0"/>
              </a:rPr>
              <a:t> A comparative summary of key cybersecurity indices for selected countries, showing </a:t>
            </a:r>
            <a:r>
              <a:rPr lang="en-US" sz="2000" dirty="0" smtClean="0">
                <a:latin typeface="Calibri" panose="020F0502020204030204" pitchFamily="34" charset="0"/>
                <a:cs typeface="Calibri" panose="020F0502020204030204" pitchFamily="34" charset="0"/>
              </a:rPr>
              <a:t>their scores in a structured format.</a:t>
            </a:r>
          </a:p>
          <a:p>
            <a:endParaRPr lang="en-US" sz="2000" dirty="0" smtClean="0">
              <a:latin typeface="Calibri" panose="020F0502020204030204" pitchFamily="34" charset="0"/>
              <a:cs typeface="Calibri" panose="020F0502020204030204" pitchFamily="34" charset="0"/>
            </a:endParaRPr>
          </a:p>
          <a:p>
            <a:r>
              <a:rPr lang="en-US" sz="2000" b="1" dirty="0">
                <a:latin typeface="Calibri" panose="020F0502020204030204" pitchFamily="34" charset="0"/>
                <a:cs typeface="Calibri" panose="020F0502020204030204" pitchFamily="34" charset="0"/>
              </a:rPr>
              <a:t>Insights:</a:t>
            </a:r>
            <a:endParaRPr lang="en-US" sz="2000" dirty="0">
              <a:latin typeface="Calibri" panose="020F0502020204030204" pitchFamily="34" charset="0"/>
              <a:cs typeface="Calibri" panose="020F0502020204030204" pitchFamily="34" charset="0"/>
            </a:endParaRPr>
          </a:p>
          <a:p>
            <a:pPr marL="566928" indent="-457200">
              <a:buFont typeface="+mj-lt"/>
              <a:buAutoNum type="arabicPeriod"/>
            </a:pPr>
            <a:r>
              <a:rPr lang="en-US" sz="2000" b="1" dirty="0">
                <a:latin typeface="Calibri" panose="020F0502020204030204" pitchFamily="34" charset="0"/>
                <a:cs typeface="Calibri" panose="020F0502020204030204" pitchFamily="34" charset="0"/>
              </a:rPr>
              <a:t>Side-by-Side Comparison:</a:t>
            </a:r>
            <a:r>
              <a:rPr lang="en-US" sz="2000" dirty="0">
                <a:latin typeface="Calibri" panose="020F0502020204030204" pitchFamily="34" charset="0"/>
                <a:cs typeface="Calibri" panose="020F0502020204030204" pitchFamily="34" charset="0"/>
              </a:rPr>
              <a:t> The table facilitates a straightforward comparison of key cybersecurity indices (GCI, CEI, NSCI, DDL) across selected countries, making it easy to assess their performance.</a:t>
            </a:r>
          </a:p>
          <a:p>
            <a:pPr marL="566928" indent="-457200">
              <a:buFont typeface="+mj-lt"/>
              <a:buAutoNum type="arabicPeriod"/>
            </a:pPr>
            <a:r>
              <a:rPr lang="en-US" sz="2000" b="1" dirty="0">
                <a:latin typeface="Calibri" panose="020F0502020204030204" pitchFamily="34" charset="0"/>
                <a:cs typeface="Calibri" panose="020F0502020204030204" pitchFamily="34" charset="0"/>
              </a:rPr>
              <a:t>Trend Identification:</a:t>
            </a:r>
            <a:r>
              <a:rPr lang="en-US" sz="2000" dirty="0">
                <a:latin typeface="Calibri" panose="020F0502020204030204" pitchFamily="34" charset="0"/>
                <a:cs typeface="Calibri" panose="020F0502020204030204" pitchFamily="34" charset="0"/>
              </a:rPr>
              <a:t> Viewers can quickly spot trends, strengths, and weaknesses in each country's cybersecurity effectiveness, helping to highlight best practices and areas for improvement.</a:t>
            </a:r>
          </a:p>
          <a:p>
            <a:pPr marL="566928" indent="-457200">
              <a:buFont typeface="+mj-lt"/>
              <a:buAutoNum type="arabicPeriod"/>
            </a:pPr>
            <a:r>
              <a:rPr lang="en-US" sz="2000" b="1" dirty="0">
                <a:latin typeface="Calibri" panose="020F0502020204030204" pitchFamily="34" charset="0"/>
                <a:cs typeface="Calibri" panose="020F0502020204030204" pitchFamily="34" charset="0"/>
              </a:rPr>
              <a:t>Informed Discussions:</a:t>
            </a:r>
            <a:r>
              <a:rPr lang="en-US" sz="2000" dirty="0">
                <a:latin typeface="Calibri" panose="020F0502020204030204" pitchFamily="34" charset="0"/>
                <a:cs typeface="Calibri" panose="020F0502020204030204" pitchFamily="34" charset="0"/>
              </a:rPr>
              <a:t> This consolidated view serves as a valuable tool for discussions on international cybersecurity strategies, collaborations, and resource allocation among countries.</a:t>
            </a:r>
          </a:p>
          <a:p>
            <a:endParaRPr lang="en-IN" sz="2000" dirty="0">
              <a:latin typeface="Calibri" panose="020F0502020204030204" pitchFamily="34" charset="0"/>
              <a:cs typeface="Calibri" panose="020F0502020204030204" pitchFamily="34" charset="0"/>
            </a:endParaRPr>
          </a:p>
        </p:txBody>
      </p:sp>
      <p:sp>
        <p:nvSpPr>
          <p:cNvPr id="3" name="Title 2"/>
          <p:cNvSpPr>
            <a:spLocks noGrp="1"/>
          </p:cNvSpPr>
          <p:nvPr>
            <p:ph type="title"/>
          </p:nvPr>
        </p:nvSpPr>
        <p:spPr/>
        <p:txBody>
          <a:bodyPr>
            <a:normAutofit fontScale="90000"/>
          </a:bodyPr>
          <a:lstStyle/>
          <a:p>
            <a:r>
              <a:rPr lang="en-IN" dirty="0">
                <a:solidFill>
                  <a:schemeClr val="tx1"/>
                </a:solidFill>
                <a:latin typeface="Calibri" panose="020F0502020204030204" pitchFamily="34" charset="0"/>
                <a:cs typeface="Calibri" panose="020F0502020204030204" pitchFamily="34" charset="0"/>
              </a:rPr>
              <a:t>Key Cybersecurity Indices Comparison</a:t>
            </a:r>
          </a:p>
        </p:txBody>
      </p:sp>
    </p:spTree>
    <p:extLst>
      <p:ext uri="{BB962C8B-B14F-4D97-AF65-F5344CB8AC3E}">
        <p14:creationId xmlns:p14="http://schemas.microsoft.com/office/powerpoint/2010/main" val="1946677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F:\Cyber Security  Imapct\New folder\tab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260648"/>
            <a:ext cx="7632848" cy="6120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57483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95536" y="1268760"/>
            <a:ext cx="8229600" cy="4900000"/>
          </a:xfrm>
        </p:spPr>
        <p:txBody>
          <a:bodyPr>
            <a:normAutofit lnSpcReduction="10000"/>
          </a:bodyPr>
          <a:lstStyle/>
          <a:p>
            <a:r>
              <a:rPr lang="en-US" sz="2400" b="1" dirty="0">
                <a:latin typeface="Calibri" panose="020F0502020204030204" pitchFamily="34" charset="0"/>
                <a:cs typeface="Calibri" panose="020F0502020204030204" pitchFamily="34" charset="0"/>
              </a:rPr>
              <a:t>Summary of Findings</a:t>
            </a:r>
            <a:r>
              <a:rPr lang="en-US" sz="2400" b="1" dirty="0" smtClean="0">
                <a:latin typeface="Calibri" panose="020F0502020204030204" pitchFamily="34" charset="0"/>
                <a:cs typeface="Calibri" panose="020F0502020204030204" pitchFamily="34" charset="0"/>
              </a:rPr>
              <a:t>:</a:t>
            </a:r>
          </a:p>
          <a:p>
            <a:pPr marL="109728" indent="0">
              <a:buNone/>
            </a:pPr>
            <a:endParaRPr lang="en-US" sz="2400" dirty="0">
              <a:latin typeface="Calibri" panose="020F0502020204030204" pitchFamily="34" charset="0"/>
              <a:cs typeface="Calibri" panose="020F0502020204030204" pitchFamily="34" charset="0"/>
            </a:endParaRPr>
          </a:p>
          <a:p>
            <a:pPr marL="566928" indent="-457200">
              <a:buFont typeface="+mj-lt"/>
              <a:buAutoNum type="arabicPeriod"/>
            </a:pPr>
            <a:r>
              <a:rPr lang="en-US" sz="2400" dirty="0">
                <a:latin typeface="Calibri" panose="020F0502020204030204" pitchFamily="34" charset="0"/>
                <a:cs typeface="Calibri" panose="020F0502020204030204" pitchFamily="34" charset="0"/>
              </a:rPr>
              <a:t>The analysis highlights significant variations in cybersecurity effectiveness across countries, as indicated by the GCI, CEI, and NSCI scores.</a:t>
            </a:r>
          </a:p>
          <a:p>
            <a:pPr marL="566928" indent="-457200">
              <a:buFont typeface="+mj-lt"/>
              <a:buAutoNum type="arabicPeriod"/>
            </a:pPr>
            <a:r>
              <a:rPr lang="en-US" sz="2400" dirty="0">
                <a:latin typeface="Calibri" panose="020F0502020204030204" pitchFamily="34" charset="0"/>
                <a:cs typeface="Calibri" panose="020F0502020204030204" pitchFamily="34" charset="0"/>
              </a:rPr>
              <a:t>Countries with higher Digital Development Levels (DDL) generally exhibit better cybersecurity effectiveness.</a:t>
            </a:r>
          </a:p>
          <a:p>
            <a:pPr marL="566928" indent="-457200">
              <a:buFont typeface="+mj-lt"/>
              <a:buAutoNum type="arabicPeriod"/>
            </a:pPr>
            <a:r>
              <a:rPr lang="en-US" sz="2400" dirty="0">
                <a:latin typeface="Calibri" panose="020F0502020204030204" pitchFamily="34" charset="0"/>
                <a:cs typeface="Calibri" panose="020F0502020204030204" pitchFamily="34" charset="0"/>
              </a:rPr>
              <a:t>Regional trends reveal that some areas are significantly better prepared than others, suggesting targeted improvement opportunities for underperforming regions.</a:t>
            </a:r>
          </a:p>
          <a:p>
            <a:pPr marL="566928" indent="-457200">
              <a:buFont typeface="+mj-lt"/>
              <a:buAutoNum type="arabicPeriod"/>
            </a:pPr>
            <a:r>
              <a:rPr lang="en-US" sz="2400" dirty="0">
                <a:latin typeface="Calibri" panose="020F0502020204030204" pitchFamily="34" charset="0"/>
                <a:cs typeface="Calibri" panose="020F0502020204030204" pitchFamily="34" charset="0"/>
              </a:rPr>
              <a:t>The findings underscore the importance of comprehensive cybersecurity strategies that consider both technical capabilities and overall digital maturity.</a:t>
            </a:r>
          </a:p>
        </p:txBody>
      </p:sp>
      <p:sp>
        <p:nvSpPr>
          <p:cNvPr id="3" name="Title 2"/>
          <p:cNvSpPr>
            <a:spLocks noGrp="1"/>
          </p:cNvSpPr>
          <p:nvPr>
            <p:ph type="title"/>
          </p:nvPr>
        </p:nvSpPr>
        <p:spPr>
          <a:xfrm>
            <a:off x="467544" y="116632"/>
            <a:ext cx="8229600" cy="1143000"/>
          </a:xfrm>
        </p:spPr>
        <p:txBody>
          <a:bodyPr/>
          <a:lstStyle/>
          <a:p>
            <a:r>
              <a:rPr lang="en-IN" dirty="0">
                <a:solidFill>
                  <a:schemeClr val="tx1"/>
                </a:solidFill>
                <a:latin typeface="Calibri" panose="020F0502020204030204" pitchFamily="34" charset="0"/>
                <a:cs typeface="Calibri" panose="020F0502020204030204" pitchFamily="34" charset="0"/>
              </a:rPr>
              <a:t>Conclusion</a:t>
            </a:r>
          </a:p>
        </p:txBody>
      </p:sp>
    </p:spTree>
    <p:extLst>
      <p:ext uri="{BB962C8B-B14F-4D97-AF65-F5344CB8AC3E}">
        <p14:creationId xmlns:p14="http://schemas.microsoft.com/office/powerpoint/2010/main" val="1837518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67544" y="1279301"/>
            <a:ext cx="8229600" cy="4525963"/>
          </a:xfrm>
        </p:spPr>
        <p:txBody>
          <a:bodyPr>
            <a:normAutofit fontScale="92500" lnSpcReduction="20000"/>
          </a:bodyPr>
          <a:lstStyle/>
          <a:p>
            <a:r>
              <a:rPr lang="en-US" b="1" dirty="0">
                <a:latin typeface="Calibri" panose="020F0502020204030204" pitchFamily="34" charset="0"/>
                <a:cs typeface="Calibri" panose="020F0502020204030204" pitchFamily="34" charset="0"/>
              </a:rPr>
              <a:t>Suggestions for Further Research</a:t>
            </a:r>
            <a:r>
              <a:rPr lang="en-US" b="1" dirty="0" smtClean="0">
                <a:latin typeface="Calibri" panose="020F0502020204030204" pitchFamily="34" charset="0"/>
                <a:cs typeface="Calibri" panose="020F0502020204030204" pitchFamily="34" charset="0"/>
              </a:rPr>
              <a:t>:</a:t>
            </a:r>
          </a:p>
          <a:p>
            <a:endParaRPr lang="en-US" dirty="0">
              <a:latin typeface="Calibri" panose="020F0502020204030204" pitchFamily="34" charset="0"/>
              <a:cs typeface="Calibri" panose="020F0502020204030204" pitchFamily="34" charset="0"/>
            </a:endParaRPr>
          </a:p>
          <a:p>
            <a:pPr marL="624078" indent="-514350">
              <a:buFont typeface="+mj-lt"/>
              <a:buAutoNum type="arabicPeriod"/>
            </a:pPr>
            <a:r>
              <a:rPr lang="en-US" dirty="0">
                <a:latin typeface="Calibri" panose="020F0502020204030204" pitchFamily="34" charset="0"/>
                <a:cs typeface="Calibri" panose="020F0502020204030204" pitchFamily="34" charset="0"/>
              </a:rPr>
              <a:t>Investigate additional factors that may influence cybersecurity effectiveness, such as economic stability, education levels, and international collaborations</a:t>
            </a:r>
            <a:r>
              <a:rPr lang="en-US" dirty="0" smtClean="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p>
            <a:pPr marL="624078" indent="-514350">
              <a:buFont typeface="+mj-lt"/>
              <a:buAutoNum type="arabicPeriod"/>
            </a:pPr>
            <a:r>
              <a:rPr lang="en-US" dirty="0">
                <a:latin typeface="Calibri" panose="020F0502020204030204" pitchFamily="34" charset="0"/>
                <a:cs typeface="Calibri" panose="020F0502020204030204" pitchFamily="34" charset="0"/>
              </a:rPr>
              <a:t>Analyze longitudinal data to observe trends in cybersecurity preparedness over time.</a:t>
            </a:r>
          </a:p>
          <a:p>
            <a:pPr marL="624078" indent="-514350">
              <a:buFont typeface="+mj-lt"/>
              <a:buAutoNum type="arabicPeriod"/>
            </a:pPr>
            <a:r>
              <a:rPr lang="en-US" dirty="0">
                <a:latin typeface="Calibri" panose="020F0502020204030204" pitchFamily="34" charset="0"/>
                <a:cs typeface="Calibri" panose="020F0502020204030204" pitchFamily="34" charset="0"/>
              </a:rPr>
              <a:t>Explore the impact of emerging technologies, like artificial intelligence and machine learning, on enhancing cybersecurity measures.</a:t>
            </a:r>
          </a:p>
          <a:p>
            <a:pPr marL="624078" indent="-514350">
              <a:buFont typeface="+mj-lt"/>
              <a:buAutoNum type="arabicPeriod"/>
            </a:pPr>
            <a:r>
              <a:rPr lang="en-US" dirty="0">
                <a:latin typeface="Calibri" panose="020F0502020204030204" pitchFamily="34" charset="0"/>
                <a:cs typeface="Calibri" panose="020F0502020204030204" pitchFamily="34" charset="0"/>
              </a:rPr>
              <a:t>Consider conducting case studies on countries that have significantly improved their cybersecurity indices to identify best practices.</a:t>
            </a:r>
          </a:p>
        </p:txBody>
      </p:sp>
      <p:sp>
        <p:nvSpPr>
          <p:cNvPr id="3" name="Title 2"/>
          <p:cNvSpPr>
            <a:spLocks noGrp="1"/>
          </p:cNvSpPr>
          <p:nvPr>
            <p:ph type="title"/>
          </p:nvPr>
        </p:nvSpPr>
        <p:spPr>
          <a:xfrm>
            <a:off x="467544" y="44624"/>
            <a:ext cx="8229600" cy="1143000"/>
          </a:xfrm>
        </p:spPr>
        <p:txBody>
          <a:bodyPr/>
          <a:lstStyle/>
          <a:p>
            <a:r>
              <a:rPr lang="en-IN" dirty="0">
                <a:solidFill>
                  <a:schemeClr val="tx1"/>
                </a:solidFill>
                <a:latin typeface="Calibri" panose="020F0502020204030204" pitchFamily="34" charset="0"/>
                <a:cs typeface="Calibri" panose="020F0502020204030204" pitchFamily="34" charset="0"/>
              </a:rPr>
              <a:t>Future Work</a:t>
            </a:r>
          </a:p>
        </p:txBody>
      </p:sp>
    </p:spTree>
    <p:extLst>
      <p:ext uri="{BB962C8B-B14F-4D97-AF65-F5344CB8AC3E}">
        <p14:creationId xmlns:p14="http://schemas.microsoft.com/office/powerpoint/2010/main" val="301246110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123</TotalTime>
  <Words>815</Words>
  <Application>Microsoft Office PowerPoint</Application>
  <PresentationFormat>On-screen Show (4:3)</PresentationFormat>
  <Paragraphs>61</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Concourse</vt:lpstr>
      <vt:lpstr> Major Global Digital Policy Frameworks in Cybersecurity</vt:lpstr>
      <vt:lpstr>Introduction</vt:lpstr>
      <vt:lpstr>Dataset Overview</vt:lpstr>
      <vt:lpstr>Cybersecurity Readiness Across Countries</vt:lpstr>
      <vt:lpstr>PowerPoint Presentation</vt:lpstr>
      <vt:lpstr>Comparison of Cybersecurity Indices</vt:lpstr>
      <vt:lpstr>PowerPoint Presentation</vt:lpstr>
      <vt:lpstr>PowerPoint Presentation</vt:lpstr>
      <vt:lpstr>Cybersecurity Effectiveness vs. Digital Development</vt:lpstr>
      <vt:lpstr>PowerPoint Presentation</vt:lpstr>
      <vt:lpstr>Key Cybersecurity Indices Comparison</vt:lpstr>
      <vt:lpstr>PowerPoint Presentation</vt:lpstr>
      <vt:lpstr>Conclusion</vt:lpstr>
      <vt:lpstr>Future Work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13</cp:revision>
  <dcterms:created xsi:type="dcterms:W3CDTF">2024-09-26T06:34:16Z</dcterms:created>
  <dcterms:modified xsi:type="dcterms:W3CDTF">2024-09-26T08:37:40Z</dcterms:modified>
</cp:coreProperties>
</file>